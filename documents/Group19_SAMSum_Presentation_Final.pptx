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6" dt="2026-10-31T10:14:10.945"/>
    <p1510:client id="{B9EC9194-7B7C-CDD3-C14D-D46656CAEC23}" v="42" dt="2026-10-31T09:08:02.204"/>
    <p1510:client id="{F4B88D63-6C17-65C8-F334-5FFA48C3128D}" v="127" dt="2026-10-31T10:11:25.8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RTHOUSE BANU M G" userId="S::2025paml507@wilp.bits-pilani.ac.in::cbad053c-c454-44b0-af20-426799075dee" providerId="AD" clId="Web-{00000000-0000-0000-0000-000000000000}"/>
    <pc:docChg chg="modSld">
      <pc:chgData name="FIRTHOUSE BANU M G" userId="S::2025paml507@wilp.bits-pilani.ac.in::cbad053c-c454-44b0-af20-426799075dee" providerId="AD" clId="Web-{00000000-0000-0000-0000-000000000000}" dt="2026-10-31T10:14:10.945" v="1" actId="1076"/>
      <pc:docMkLst>
        <pc:docMk/>
      </pc:docMkLst>
      <pc:sldChg chg="modSp">
        <pc:chgData name="FIRTHOUSE BANU M G" userId="S::2025paml507@wilp.bits-pilani.ac.in::cbad053c-c454-44b0-af20-426799075dee" providerId="AD" clId="Web-{00000000-0000-0000-0000-000000000000}" dt="2026-10-31T10:14:10.945" v="1" actId="1076"/>
        <pc:sldMkLst>
          <pc:docMk/>
          <pc:sldMk cId="0" sldId="256"/>
        </pc:sldMkLst>
        <pc:spChg chg="mod">
          <ac:chgData name="FIRTHOUSE BANU M G" userId="S::2025paml507@wilp.bits-pilani.ac.in::cbad053c-c454-44b0-af20-426799075dee" providerId="AD" clId="Web-{00000000-0000-0000-0000-000000000000}" dt="2026-10-31T10:14:10.945" v="1" actId="1076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SONAL GUPTA" userId="S::2025paml504@wilp.bits-pilani.ac.in::5954224b-867d-4a56-8e15-a56e3a1d64e4" providerId="AD" clId="Web-{00000000-0000-0000-0000-000000000000}"/>
    <pc:docChg chg="modSld">
      <pc:chgData name="SONAL GUPTA" userId="S::2025paml504@wilp.bits-pilani.ac.in::5954224b-867d-4a56-8e15-a56e3a1d64e4" providerId="AD" clId="Web-{00000000-0000-0000-0000-000000000000}" dt="2026-10-31T10:13:55.871" v="1" actId="20577"/>
      <pc:docMkLst>
        <pc:docMk/>
      </pc:docMkLst>
      <pc:sldChg chg="modSp">
        <pc:chgData name="SONAL GUPTA" userId="S::2025paml504@wilp.bits-pilani.ac.in::5954224b-867d-4a56-8e15-a56e3a1d64e4" providerId="AD" clId="Web-{00000000-0000-0000-0000-000000000000}" dt="2026-10-31T10:13:55.871" v="1" actId="20577"/>
        <pc:sldMkLst>
          <pc:docMk/>
          <pc:sldMk cId="0" sldId="256"/>
        </pc:sldMkLst>
        <pc:spChg chg="mod">
          <ac:chgData name="SONAL GUPTA" userId="S::2025paml504@wilp.bits-pilani.ac.in::5954224b-867d-4a56-8e15-a56e3a1d64e4" providerId="AD" clId="Web-{00000000-0000-0000-0000-000000000000}" dt="2026-10-31T10:13:55.871" v="1" actId="20577"/>
          <ac:spMkLst>
            <pc:docMk/>
            <pc:sldMk cId="0" sldId="256"/>
            <ac:spMk id="4" creationId="{00000000-0000-0000-0000-000000000000}"/>
          </ac:spMkLst>
        </pc:spChg>
      </pc:sldChg>
    </pc:docChg>
  </pc:docChgLst>
  <pc:docChgLst>
    <pc:chgData name="FIRTHOUSE BANU M G" userId="S::2025paml507@wilp.bits-pilani.ac.in::cbad053c-c454-44b0-af20-426799075dee" providerId="AD" clId="Web-{B9EC9194-7B7C-CDD3-C14D-D46656CAEC23}"/>
    <pc:docChg chg="modSld">
      <pc:chgData name="FIRTHOUSE BANU M G" userId="S::2025paml507@wilp.bits-pilani.ac.in::cbad053c-c454-44b0-af20-426799075dee" providerId="AD" clId="Web-{B9EC9194-7B7C-CDD3-C14D-D46656CAEC23}" dt="2026-10-31T09:08:02.204" v="19" actId="20577"/>
      <pc:docMkLst>
        <pc:docMk/>
      </pc:docMkLst>
      <pc:sldChg chg="modSp">
        <pc:chgData name="FIRTHOUSE BANU M G" userId="S::2025paml507@wilp.bits-pilani.ac.in::cbad053c-c454-44b0-af20-426799075dee" providerId="AD" clId="Web-{B9EC9194-7B7C-CDD3-C14D-D46656CAEC23}" dt="2026-10-31T09:08:02.204" v="19" actId="20577"/>
        <pc:sldMkLst>
          <pc:docMk/>
          <pc:sldMk cId="0" sldId="256"/>
        </pc:sldMkLst>
        <pc:spChg chg="mod">
          <ac:chgData name="FIRTHOUSE BANU M G" userId="S::2025paml507@wilp.bits-pilani.ac.in::cbad053c-c454-44b0-af20-426799075dee" providerId="AD" clId="Web-{B9EC9194-7B7C-CDD3-C14D-D46656CAEC23}" dt="2026-10-31T09:08:02.204" v="19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  <pc:docChgLst>
    <pc:chgData name="SONAL GUPTA" userId="S::2025paml504@wilp.bits-pilani.ac.in::5954224b-867d-4a56-8e15-a56e3a1d64e4" providerId="AD" clId="Web-{F4B88D63-6C17-65C8-F334-5FFA48C3128D}"/>
    <pc:docChg chg="addSld delSld modSld">
      <pc:chgData name="SONAL GUPTA" userId="S::2025paml504@wilp.bits-pilani.ac.in::5954224b-867d-4a56-8e15-a56e3a1d64e4" providerId="AD" clId="Web-{F4B88D63-6C17-65C8-F334-5FFA48C3128D}" dt="2026-10-31T10:04:00.989" v="65" actId="20577"/>
      <pc:docMkLst>
        <pc:docMk/>
      </pc:docMkLst>
      <pc:sldChg chg="addSp delSp modSp">
        <pc:chgData name="SONAL GUPTA" userId="S::2025paml504@wilp.bits-pilani.ac.in::5954224b-867d-4a56-8e15-a56e3a1d64e4" providerId="AD" clId="Web-{F4B88D63-6C17-65C8-F334-5FFA48C3128D}" dt="2026-10-31T10:04:00.989" v="65" actId="20577"/>
        <pc:sldMkLst>
          <pc:docMk/>
          <pc:sldMk cId="0" sldId="256"/>
        </pc:sldMkLst>
        <pc:spChg chg="mod">
          <ac:chgData name="SONAL GUPTA" userId="S::2025paml504@wilp.bits-pilani.ac.in::5954224b-867d-4a56-8e15-a56e3a1d64e4" providerId="AD" clId="Web-{F4B88D63-6C17-65C8-F334-5FFA48C3128D}" dt="2026-10-31T10:04:00.989" v="65" actId="20577"/>
          <ac:spMkLst>
            <pc:docMk/>
            <pc:sldMk cId="0" sldId="256"/>
            <ac:spMk id="4" creationId="{00000000-0000-0000-0000-000000000000}"/>
          </ac:spMkLst>
        </pc:spChg>
        <pc:spChg chg="add del">
          <ac:chgData name="SONAL GUPTA" userId="S::2025paml504@wilp.bits-pilani.ac.in::5954224b-867d-4a56-8e15-a56e3a1d64e4" providerId="AD" clId="Web-{F4B88D63-6C17-65C8-F334-5FFA48C3128D}" dt="2026-10-31T10:02:17.953" v="2"/>
          <ac:spMkLst>
            <pc:docMk/>
            <pc:sldMk cId="0" sldId="256"/>
            <ac:spMk id="9" creationId="{CC520EF4-7F85-3F16-EB73-0B02EF95655A}"/>
          </ac:spMkLst>
        </pc:spChg>
      </pc:sldChg>
      <pc:sldChg chg="new del">
        <pc:chgData name="SONAL GUPTA" userId="S::2025paml504@wilp.bits-pilani.ac.in::5954224b-867d-4a56-8e15-a56e3a1d64e4" providerId="AD" clId="Web-{F4B88D63-6C17-65C8-F334-5FFA48C3128D}" dt="2026-10-31T10:02:20.109" v="3"/>
        <pc:sldMkLst>
          <pc:docMk/>
          <pc:sldMk cId="1416035052" sldId="26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ilpbitspilaniacin0-my.sharepoint.com/:v:/g/personal/2025paml504_wilp_bits-pilani_ac_in/IQDxiN0zVOf-Ta4XqKy2kqMgAeWKd4Gmz0OWHfRb9qaW9VY?nav=eyJyZWZlcnJhbEluZm8iOnsicmVmZXJyYWxBcHAiOiJPbmVEcml2ZUZvckJ1c2luZXNzIiwicmVmZXJyYWxBcHBQbGF0Zm9ybSI6IldlYiIsInJlZmVycmFsTW9kZSI6InZpZXciLCJyZWZlcnJhbFZpZXciOiJNeUZpbGVzTGlua0NvcHkifX0&amp;e=nSeGr6" TargetMode="External"/><Relationship Id="rId2" Type="http://schemas.openxmlformats.org/officeDocument/2006/relationships/hyperlink" Target="https://github.com/FirthouseBanuMG/samsum-generative-ai-project_grp_19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40080"/>
            <a:ext cx="1005840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196F70"/>
                </a:solidFill>
                <a:latin typeface="Aptos"/>
              </a:defRPr>
            </a:pPr>
            <a:r>
              <a:t>APPLIED GENERATIVE AI  |  GROUP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325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32B30"/>
                </a:solidFill>
                <a:latin typeface="Aptos"/>
              </a:defRPr>
            </a:pPr>
            <a:r>
              <a:t>SAMSum Conversation</a:t>
            </a:r>
          </a:p>
          <a:p>
            <a:pPr>
              <a:spcAft>
                <a:spcPts val="700"/>
              </a:spcAft>
              <a:defRPr sz="3200" b="1">
                <a:solidFill>
                  <a:srgbClr val="232B30"/>
                </a:solidFill>
                <a:latin typeface="Aptos"/>
              </a:defRPr>
            </a:pPr>
            <a:r>
              <a:t>Summarization &amp; Action-Item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3697" y="2747554"/>
            <a:ext cx="10058400" cy="1065933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700"/>
              </a:spcAft>
              <a:defRPr sz="1800" b="0">
                <a:solidFill>
                  <a:srgbClr val="5A656B"/>
                </a:solidFill>
                <a:latin typeface="Aptos"/>
              </a:defRPr>
            </a:pPr>
            <a:r>
              <a:t>Turning chat conversations into concise, reviewable summaries</a:t>
            </a:r>
          </a:p>
          <a:p>
            <a:pPr>
              <a:spcAft>
                <a:spcPts val="700"/>
              </a:spcAft>
              <a:defRPr sz="1800" b="0">
                <a:solidFill>
                  <a:srgbClr val="5A656B"/>
                </a:solidFill>
                <a:latin typeface="Aptos"/>
              </a:defRPr>
            </a:pPr>
            <a:r>
              <a:rPr lang="en-GB"/>
              <a:t>Repository Link:  </a:t>
            </a:r>
            <a:r>
              <a:rPr lang="en-GB">
                <a:hlinkClick r:id="rId2"/>
              </a:rPr>
              <a:t>Link Here</a:t>
            </a:r>
            <a:r>
              <a:rPr lang="en-GB"/>
              <a:t>. Please use main GH Branch </a:t>
            </a:r>
          </a:p>
          <a:p>
            <a:pPr>
              <a:spcAft>
                <a:spcPts val="700"/>
              </a:spcAft>
              <a:defRPr sz="1800" b="0">
                <a:solidFill>
                  <a:srgbClr val="5A656B"/>
                </a:solidFill>
                <a:latin typeface="Aptos"/>
              </a:defRPr>
            </a:pPr>
            <a:r>
              <a:rPr lang="en-GB"/>
              <a:t>Demo Link: </a:t>
            </a:r>
            <a:r>
              <a:rPr lang="en-GB">
                <a:hlinkClick r:id="rId3"/>
              </a:rPr>
              <a:t>Link Here.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3886200"/>
            <a:ext cx="10469880" cy="0"/>
          </a:xfrm>
          <a:prstGeom prst="line">
            <a:avLst/>
          </a:prstGeom>
          <a:ln w="2540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4251960"/>
            <a:ext cx="5029200" cy="4114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6F70"/>
                </a:solidFill>
                <a:latin typeface="Aptos"/>
              </a:defRPr>
            </a:pPr>
            <a:r>
              <a:t>PRESENTERS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789920" cy="760721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232B30"/>
                </a:solidFill>
                <a:latin typeface="Aptos"/>
              </a:defRPr>
            </a:pPr>
            <a:r>
              <a:rPr lang="en-US" err="1"/>
              <a:t>Firthouse</a:t>
            </a:r>
            <a:r>
              <a:rPr lang="en-US"/>
              <a:t> Banu M G</a:t>
            </a:r>
            <a:r>
              <a:t>→  Chaudhari Ganesh Govind</a:t>
            </a:r>
          </a:p>
          <a:p>
            <a:pPr>
              <a:spcAft>
                <a:spcPts val="700"/>
              </a:spcAft>
              <a:defRPr sz="2000" b="1">
                <a:solidFill>
                  <a:srgbClr val="232B30"/>
                </a:solidFill>
                <a:latin typeface="Aptos"/>
              </a:defRPr>
            </a:pPr>
            <a:r>
              <a:rPr lang="en-US"/>
              <a:t>Sonal Gupta </a:t>
            </a:r>
            <a:r>
              <a:t> →  Ramniwash Kumar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0584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5A656B"/>
                </a:solidFill>
                <a:latin typeface="Aptos"/>
              </a:defRPr>
            </a:pPr>
            <a:r>
              <a:t>Group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32B30"/>
                </a:solidFill>
                <a:latin typeface="Aptos"/>
              </a:defRPr>
            </a:pPr>
            <a:r>
              <a:t>The problem and the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56B"/>
                </a:solidFill>
                <a:latin typeface="Aptos"/>
              </a:defRPr>
            </a:pPr>
            <a:r>
              <a:t>Why conversation summaries need both context and careful action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56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512064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F70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67128"/>
            <a:ext cx="5120640" cy="37307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Important information is spread across chat turns.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A useful assistant should identify: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What happened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Key points and decisions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Who explicitly agreed to do what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The result is a draft for human review—not an authoritative record.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0292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E7B31"/>
                </a:solidFill>
                <a:latin typeface="Aptos"/>
              </a:defRPr>
            </a:pPr>
            <a:r>
              <a:t>SAMSUM DATASET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67128"/>
            <a:ext cx="5029200" cy="37307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Messenger-style dialogues paired with human-written summaries.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Processed split sizes: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Train: 14,731 rows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Validation: 818 rows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Test: 819 rows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One blank training dialogue was excluded and logged. Required fields, IDs and cross-split exact-match checks passed.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80760"/>
            <a:ext cx="1051560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D4F43"/>
                </a:solidFill>
                <a:latin typeface="Aptos"/>
              </a:defRPr>
            </a:pPr>
            <a:r>
              <a:t>The Kaggle listing reports the dataset license as Unknown; dataset files are not redistributed.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32B30"/>
                </a:solidFill>
                <a:latin typeface="Aptos"/>
              </a:defRPr>
            </a:pPr>
            <a:r>
              <a:t>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56B"/>
                </a:solidFill>
                <a:latin typeface="Aptos"/>
              </a:defRPr>
            </a:pPr>
            <a:r>
              <a:t>A two-part workflow: prepare and evaluate offline, then generate and validate at runtime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353312"/>
            <a:ext cx="612648" cy="0"/>
          </a:xfrm>
          <a:prstGeom prst="line">
            <a:avLst/>
          </a:prstGeom>
          <a:ln w="317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47120" y="6492240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56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27432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6F70"/>
                </a:solidFill>
                <a:latin typeface="Aptos"/>
              </a:defRPr>
            </a:pPr>
            <a:r>
              <a:t>OFFLINE PREPARATION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011680"/>
            <a:ext cx="2331720" cy="91440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Raw CSV splits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Train • validation • test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44952" y="2468880"/>
            <a:ext cx="356616" cy="0"/>
          </a:xfrm>
          <a:prstGeom prst="line">
            <a:avLst/>
          </a:prstGeom>
          <a:ln w="190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474720" y="2011680"/>
            <a:ext cx="2331720" cy="91440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Data audit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Validate • profile • IDs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33872" y="2468880"/>
            <a:ext cx="356616" cy="0"/>
          </a:xfrm>
          <a:prstGeom prst="line">
            <a:avLst/>
          </a:prstGeom>
          <a:ln w="190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263640" y="2011680"/>
            <a:ext cx="2331720" cy="91440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Preprocessing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Exclude blank row •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22792" y="2468880"/>
            <a:ext cx="356616" cy="0"/>
          </a:xfrm>
          <a:prstGeom prst="line">
            <a:avLst/>
          </a:prstGeom>
          <a:ln w="190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9052560" y="2011680"/>
            <a:ext cx="2331720" cy="914400"/>
          </a:xfrm>
          <a:prstGeom prst="rect">
            <a:avLst/>
          </a:prstGeom>
          <a:solidFill>
            <a:srgbClr val="E2EFEC"/>
          </a:solidFill>
          <a:ln w="10160">
            <a:solidFill>
              <a:srgbClr val="AE7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AE7B31"/>
                </a:solidFill>
                <a:latin typeface="Aptos"/>
              </a:defRPr>
            </a:pPr>
            <a:r>
              <a:t>Experiments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Prompts • decoding •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274320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6F70"/>
                </a:solidFill>
                <a:latin typeface="Aptos"/>
              </a:defRPr>
            </a:pPr>
            <a:r>
              <a:t>RUNTIME GENERATION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749039"/>
            <a:ext cx="1874519" cy="105156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Dialogue + prompt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Chat template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487168" y="4270248"/>
            <a:ext cx="329184" cy="0"/>
          </a:xfrm>
          <a:prstGeom prst="line">
            <a:avLst/>
          </a:prstGeom>
          <a:ln w="1651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2880360" y="3749039"/>
            <a:ext cx="1874519" cy="105156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Qwen2.5-1.5B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Pretrained model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73168" y="4270248"/>
            <a:ext cx="329184" cy="0"/>
          </a:xfrm>
          <a:prstGeom prst="line">
            <a:avLst/>
          </a:prstGeom>
          <a:ln w="1651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66360" y="3749039"/>
            <a:ext cx="1874519" cy="105156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JSON parser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Extract and validate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9168" y="4270248"/>
            <a:ext cx="329184" cy="0"/>
          </a:xfrm>
          <a:prstGeom prst="line">
            <a:avLst/>
          </a:prstGeom>
          <a:ln w="1651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7452360" y="3749039"/>
            <a:ext cx="1874519" cy="1051560"/>
          </a:xfrm>
          <a:prstGeom prst="rect">
            <a:avLst/>
          </a:prstGeom>
          <a:solidFill>
            <a:srgbClr val="F6EFE0"/>
          </a:solidFill>
          <a:ln w="10160">
            <a:solidFill>
              <a:srgbClr val="AE7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AE7B31"/>
                </a:solidFill>
                <a:latin typeface="Aptos"/>
              </a:defRPr>
            </a:pPr>
            <a:r>
              <a:t>Coverage check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Warn on selected omissions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45168" y="4270248"/>
            <a:ext cx="329184" cy="0"/>
          </a:xfrm>
          <a:prstGeom prst="line">
            <a:avLst/>
          </a:prstGeom>
          <a:ln w="1651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9738360" y="3749039"/>
            <a:ext cx="1874519" cy="1051560"/>
          </a:xfrm>
          <a:prstGeom prst="rect">
            <a:avLst/>
          </a:prstGeom>
          <a:solidFill>
            <a:srgbClr val="F6EFE0"/>
          </a:solidFill>
          <a:ln w="10160">
            <a:solidFill>
              <a:srgbClr val="AE7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AE7B31"/>
                </a:solidFill>
                <a:latin typeface="Aptos"/>
              </a:defRPr>
            </a:pPr>
            <a:r>
              <a:t>Tool + human review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Allowlist and inspect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10515600" cy="6400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9D4F43"/>
                </a:solidFill>
                <a:latin typeface="Aptos"/>
              </a:defRPr>
            </a:pPr>
            <a:r>
              <a:t>The coverage check raises a warning; it does not repair the answer. JSON schema validation checks structure, not factual accuracy. Human review remains necessary.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32B30"/>
                </a:solidFill>
                <a:latin typeface="Aptos"/>
              </a:defRPr>
            </a:pPr>
            <a:r>
              <a:t>How the language model generates a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56B"/>
                </a:solidFill>
                <a:latin typeface="Aptos"/>
              </a:defRPr>
            </a:pPr>
            <a:r>
              <a:t>Qwen2.5-1.5B-Instruct is used as a pretrained autoregressive causal language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353312"/>
            <a:ext cx="612648" cy="0"/>
          </a:xfrm>
          <a:prstGeom prst="line">
            <a:avLst/>
          </a:prstGeom>
          <a:ln w="317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47120" y="6492240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56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03120"/>
            <a:ext cx="1965960" cy="123444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1  INPUT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Dialogue + instructions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78608" y="2724912"/>
            <a:ext cx="283464" cy="0"/>
          </a:xfrm>
          <a:prstGeom prst="line">
            <a:avLst/>
          </a:prstGeom>
          <a:ln w="1524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926079" y="2103120"/>
            <a:ext cx="1965960" cy="123444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2  TOKENIZE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Text becomes token IDs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7" y="2724912"/>
            <a:ext cx="283465" cy="0"/>
          </a:xfrm>
          <a:prstGeom prst="line">
            <a:avLst/>
          </a:prstGeom>
          <a:ln w="1524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257800" y="2103120"/>
            <a:ext cx="1965960" cy="123444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3  TRANSFORMER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Embeddings, positions and causal self-attention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42048" y="2724912"/>
            <a:ext cx="283464" cy="0"/>
          </a:xfrm>
          <a:prstGeom prst="line">
            <a:avLst/>
          </a:prstGeom>
          <a:ln w="1524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589519" y="2103120"/>
            <a:ext cx="1965960" cy="1234440"/>
          </a:xfrm>
          <a:prstGeom prst="rect">
            <a:avLst/>
          </a:prstGeom>
          <a:solidFill>
            <a:srgbClr val="E2EFEC"/>
          </a:solidFill>
          <a:ln w="10160">
            <a:solidFill>
              <a:srgbClr val="196F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196F70"/>
                </a:solidFill>
                <a:latin typeface="Aptos"/>
              </a:defRPr>
            </a:pPr>
            <a:r>
              <a:t>4  NEXT TOKEN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Language-model head scores vocabulary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573767" y="2724912"/>
            <a:ext cx="283465" cy="0"/>
          </a:xfrm>
          <a:prstGeom prst="line">
            <a:avLst/>
          </a:prstGeom>
          <a:ln w="1524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921240" y="2103120"/>
            <a:ext cx="1965960" cy="1234440"/>
          </a:xfrm>
          <a:prstGeom prst="rect">
            <a:avLst/>
          </a:prstGeom>
          <a:solidFill>
            <a:srgbClr val="F6EFE0"/>
          </a:solidFill>
          <a:ln w="10160">
            <a:solidFill>
              <a:srgbClr val="AE7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36576" rIns="64008" bIns="36576" rtlCol="0" anchor="ctr"/>
          <a:lstStyle/>
          <a:p>
            <a:pPr algn="ctr">
              <a:defRPr sz="1200" b="1">
                <a:solidFill>
                  <a:srgbClr val="AE7B31"/>
                </a:solidFill>
                <a:latin typeface="Aptos"/>
              </a:defRPr>
            </a:pPr>
            <a:r>
              <a:t>5  DECODE</a:t>
            </a:r>
          </a:p>
          <a:p>
            <a:pPr algn="ctr">
              <a:defRPr sz="900">
                <a:solidFill>
                  <a:srgbClr val="232B30"/>
                </a:solidFill>
                <a:latin typeface="Aptos"/>
              </a:defRPr>
            </a:pPr>
            <a:r>
              <a:t>Choose token, append and repeat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77639"/>
            <a:ext cx="49834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F70"/>
                </a:solidFill>
                <a:latin typeface="Aptos"/>
              </a:defRPr>
            </a:pPr>
            <a:r>
              <a:t>GREEDY DECODING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61688"/>
            <a:ext cx="4983480" cy="1353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Chooses the highest-scoring next token. The same setup gives repeatable output.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77639"/>
            <a:ext cx="49834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E7B31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361688"/>
            <a:ext cx="4983480" cy="1353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Temperature, top-p and top-k vary token selection. More variation does not guarantee better quality.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10332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9D4F43"/>
                </a:solidFill>
                <a:latin typeface="Aptos"/>
              </a:defRPr>
            </a:pPr>
            <a:r>
              <a:t>A fluent sentence can still omit a commitment or introduce an unsupported detail.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32B30"/>
                </a:solidFill>
                <a:latin typeface="Aptos"/>
              </a:defRPr>
            </a:pPr>
            <a:r>
              <a:t>Prompting and generation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56B"/>
                </a:solidFill>
                <a:latin typeface="Aptos"/>
              </a:defRPr>
            </a:pPr>
            <a:r>
              <a:t>We changed instructions and decoding settings while keeping the baseline model fixed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56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50292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F70"/>
                </a:solidFill>
                <a:latin typeface="Aptos"/>
              </a:defRPr>
            </a:pPr>
            <a:r>
              <a:t>FOUR PROMPT STRATEGIES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5029200" cy="37307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Zero-shot — instructions only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Few-shot — instructions plus examples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Role-based — assigns task context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Constraint-based — explicit factuality and format rules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Few-shot scored highest in a 3-dialogue human-rating pilot.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A separate 3-example test found concise prompts produced shorter summaries and higher ROUGE overlap than detailed prompts.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0292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E7B31"/>
                </a:solidFill>
                <a:latin typeface="Aptos"/>
              </a:defRPr>
            </a:pPr>
            <a:r>
              <a:t>DECODING EXPERIMENTS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21408"/>
            <a:ext cx="5029200" cy="37307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Greedy decoding produced repeatable output.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Sampling used temperature 0.3 / top-p 0.9, temperature 1.0 / top-p 0.9, and temperature 0.8 / top-k 50, with three seeds per sample.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Sampling produced distinct outputs but sometimes added unsupported details.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10332720" cy="22860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000" b="0">
                <a:solidFill>
                  <a:srgbClr val="9D4F43"/>
                </a:solidFill>
                <a:latin typeface="Aptos"/>
              </a:defRPr>
            </a:pPr>
            <a:r>
              <a:t>The prompt pilot was small and exploratory. RAG was not required because the source dialogue provides the evidence; fine-tuning was not performed.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32B30"/>
                </a:solidFill>
                <a:latin typeface="Aptos"/>
              </a:defRPr>
            </a:pPr>
            <a:r>
              <a:t>Model-family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56B"/>
                </a:solidFill>
                <a:latin typeface="Aptos"/>
              </a:defRPr>
            </a:pPr>
            <a:r>
              <a:t>50 selected test dialogues • greedy decoding • ROUGE F1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353312"/>
            <a:ext cx="612648" cy="0"/>
          </a:xfrm>
          <a:prstGeom prst="line">
            <a:avLst/>
          </a:prstGeom>
          <a:ln w="317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47120" y="6492240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56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554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6F70"/>
                </a:solidFill>
                <a:latin typeface="Aptos"/>
              </a:defRPr>
            </a:pPr>
            <a: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9160" y="1828800"/>
            <a:ext cx="1554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6F70"/>
                </a:solidFill>
                <a:latin typeface="Aptos"/>
              </a:defRPr>
            </a:pPr>
            <a:r>
              <a:t>ROUGE-1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828800"/>
            <a:ext cx="1554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6F70"/>
                </a:solidFill>
                <a:latin typeface="Aptos"/>
              </a:defRPr>
            </a:pPr>
            <a:r>
              <a:t>ROUGE-2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8120" y="1828800"/>
            <a:ext cx="1554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6F70"/>
                </a:solidFill>
                <a:latin typeface="Aptos"/>
              </a:defRPr>
            </a:pPr>
            <a:r>
              <a:t>ROUGE-L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55480" y="1828800"/>
            <a:ext cx="155448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196F70"/>
                </a:solidFill>
                <a:latin typeface="Aptos"/>
              </a:defRPr>
            </a:pPr>
            <a:r>
              <a:t>AVG. SEC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2212848"/>
            <a:ext cx="10561320" cy="0"/>
          </a:xfrm>
          <a:prstGeom prst="line">
            <a:avLst/>
          </a:prstGeom>
          <a:ln w="1651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606040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32B30"/>
                </a:solidFill>
                <a:latin typeface="Aptos"/>
              </a:defRPr>
            </a:pPr>
            <a:r>
              <a:t>Qwen2.5-1.5B-Instruct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0604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0"/>
                </a:solidFill>
                <a:latin typeface="Aptos"/>
              </a:defRPr>
            </a:pPr>
            <a:r>
              <a:t>.221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60604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0"/>
                </a:solidFill>
                <a:latin typeface="Aptos"/>
              </a:defRPr>
            </a:pPr>
            <a:r>
              <a:t>.072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20" y="260604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0"/>
                </a:solidFill>
                <a:latin typeface="Aptos"/>
              </a:defRPr>
            </a:pPr>
            <a:r>
              <a:t>.159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55480" y="260604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0"/>
                </a:solidFill>
                <a:latin typeface="Aptos"/>
              </a:defRPr>
            </a:pPr>
            <a:r>
              <a:t>21.69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77240" y="3063240"/>
            <a:ext cx="10561320" cy="0"/>
          </a:xfrm>
          <a:prstGeom prst="line">
            <a:avLst/>
          </a:prstGeom>
          <a:ln w="8890">
            <a:solidFill>
              <a:srgbClr val="D2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77240" y="3246120"/>
            <a:ext cx="10561320" cy="0"/>
          </a:xfrm>
          <a:prstGeom prst="line">
            <a:avLst/>
          </a:prstGeom>
          <a:ln w="20320">
            <a:solidFill>
              <a:srgbClr val="AE7B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3383280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32B30"/>
                </a:solidFill>
                <a:latin typeface="Aptos"/>
              </a:defRPr>
            </a:pPr>
            <a:r>
              <a:t>FLAN-T5-base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38328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32B30"/>
                </a:solidFill>
                <a:latin typeface="Aptos"/>
              </a:defRPr>
            </a:pPr>
            <a:r>
              <a:t>.514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38328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32B30"/>
                </a:solidFill>
                <a:latin typeface="Aptos"/>
              </a:defRPr>
            </a:pPr>
            <a:r>
              <a:t>.248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38328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32B30"/>
                </a:solidFill>
                <a:latin typeface="Aptos"/>
              </a:defRPr>
            </a:pPr>
            <a:r>
              <a:t>.429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38328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32B30"/>
                </a:solidFill>
                <a:latin typeface="Aptos"/>
              </a:defRPr>
            </a:pPr>
            <a:r>
              <a:t>.64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3840480"/>
            <a:ext cx="10561320" cy="0"/>
          </a:xfrm>
          <a:prstGeom prst="line">
            <a:avLst/>
          </a:prstGeom>
          <a:ln w="8890">
            <a:solidFill>
              <a:srgbClr val="D2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4160520"/>
            <a:ext cx="21945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1">
                <a:solidFill>
                  <a:srgbClr val="232B30"/>
                </a:solidFill>
                <a:latin typeface="Aptos"/>
              </a:defRPr>
            </a:pPr>
            <a:r>
              <a:t>DistilBART-CNN-12-6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16052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0"/>
                </a:solidFill>
                <a:latin typeface="Aptos"/>
              </a:defRPr>
            </a:pPr>
            <a:r>
              <a:t>.265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6052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0"/>
                </a:solidFill>
                <a:latin typeface="Aptos"/>
              </a:defRPr>
            </a:pPr>
            <a:r>
              <a:t>.098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16052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0"/>
                </a:solidFill>
                <a:latin typeface="Aptos"/>
              </a:defRPr>
            </a:pPr>
            <a:r>
              <a:t>.200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416052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232B30"/>
                </a:solidFill>
                <a:latin typeface="Aptos"/>
              </a:defRPr>
            </a:pPr>
            <a:r>
              <a:t>1.38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4617720"/>
            <a:ext cx="10561320" cy="0"/>
          </a:xfrm>
          <a:prstGeom prst="line">
            <a:avLst/>
          </a:prstGeom>
          <a:ln w="8890">
            <a:solidFill>
              <a:srgbClr val="D2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5166360"/>
            <a:ext cx="493776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F70"/>
                </a:solidFill>
                <a:latin typeface="Aptos"/>
              </a:defRPr>
            </a:pPr>
            <a:r>
              <a:t>OBSERVED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550408"/>
            <a:ext cx="493776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FLAN-T5-base had the highest ROUGE scores and was fastest in this run.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166360"/>
            <a:ext cx="493776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E7B31"/>
                </a:solidFill>
                <a:latin typeface="Aptos"/>
              </a:defRPr>
            </a:pPr>
            <a:r>
              <a:t>INTERPRETATION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550408"/>
            <a:ext cx="4937760" cy="621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Qwen was retained for the integrated structured workflow—not because it won ROUGE.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6355080"/>
            <a:ext cx="1051560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9D4F43"/>
                </a:solidFill>
                <a:latin typeface="Aptos"/>
              </a:defRPr>
            </a:pPr>
            <a:r>
              <a:t>Caveats: 50 examples; input formats differed; test subset no longer untouched. ROUGE is not factuality.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32B30"/>
                </a:solidFill>
                <a:latin typeface="Aptos"/>
              </a:defRPr>
            </a:pPr>
            <a:r>
              <a:t>Structured output and the validation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56B"/>
                </a:solidFill>
                <a:latin typeface="Aptos"/>
              </a:defRPr>
            </a:pPr>
            <a:r>
              <a:t>The model is asked to return predictable JSON that the application can inspect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353312"/>
            <a:ext cx="612648" cy="0"/>
          </a:xfrm>
          <a:prstGeom prst="line">
            <a:avLst/>
          </a:prstGeom>
          <a:ln w="317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47120" y="6492240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56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0292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F70"/>
                </a:solidFill>
                <a:latin typeface="Aptos"/>
              </a:defRPr>
            </a:pPr>
            <a:r>
              <a:t>JSON RESPONSE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67128"/>
            <a:ext cx="5029200" cy="37307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{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  "summary": "...",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  "key_points": ["..."],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  "decisions": ["..."],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  "action_items": [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    {"owner": "...", "task": "...", "due": null}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  ]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0292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F70"/>
                </a:solidFill>
                <a:latin typeface="Aptos"/>
              </a:defRPr>
            </a:pPr>
            <a:r>
              <a:t>RECOVERY AND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67128"/>
            <a:ext cx="5029200" cy="15361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Extract JSON → parse → check schema → retry once if invalid → flag fallback for review.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4069080"/>
            <a:ext cx="50292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E7B31"/>
                </a:solidFill>
                <a:latin typeface="Aptos"/>
              </a:defRPr>
            </a:pPr>
            <a:r>
              <a:t>ALLOWLISTED FUNCTION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4453128"/>
            <a:ext cx="5029200" cy="13533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validate_summary_output checks the proposed structure. The application validates the tool name and arguments before calling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80760"/>
            <a:ext cx="1033272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9D4F43"/>
                </a:solidFill>
                <a:latin typeface="Aptos"/>
              </a:defRPr>
            </a:pPr>
            <a:r>
              <a:t>This is an application-level JSON tool protocol, not native model-specific tool-call parsing. Valid JSON can still be factually wrong.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32B30"/>
                </a:solidFill>
                <a:latin typeface="Aptos"/>
              </a:defRPr>
            </a:pPr>
            <a:r>
              <a:t>Live example: valid JSON can still miss the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56B"/>
                </a:solidFill>
                <a:latin typeface="Aptos"/>
              </a:defRPr>
            </a:pPr>
            <a:r>
              <a:t>The integrated demo uses a saved example from the project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353312"/>
            <a:ext cx="612648" cy="0"/>
          </a:xfrm>
          <a:prstGeom prst="line">
            <a:avLst/>
          </a:prstGeom>
          <a:ln w="317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47120" y="6492240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56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49834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F70"/>
                </a:solidFill>
                <a:latin typeface="Aptos"/>
              </a:defRPr>
            </a:pPr>
            <a:r>
              <a:t>SOURCE DIALOGUE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67128"/>
            <a:ext cx="4983480" cy="2907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Amanda: “I baked cookies. Do you want some?”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Jerry: “Sure!”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Amanda: “I’ll bring you tomorrow.”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49834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E7B31"/>
                </a:solidFill>
                <a:latin typeface="Aptos"/>
              </a:defRPr>
            </a:pPr>
            <a:r>
              <a:t>MODEL 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67128"/>
            <a:ext cx="4983480" cy="29077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“Amanda baked cookies for Jerry.”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Action items: none identified.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endParaRPr/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JSON Schema: PASSED.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0600"/>
            <a:ext cx="49834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9D4F43"/>
                </a:solidFill>
                <a:latin typeface="Aptos"/>
              </a:defRPr>
            </a:pPr>
            <a:r>
              <a:t>WHAT WAS MISSED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84648"/>
            <a:ext cx="4983480" cy="6675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Amanda’s promise to bring cookies tomorrow was not extracted as an action item.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4800600"/>
            <a:ext cx="498348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E7B31"/>
                </a:solidFill>
                <a:latin typeface="Aptos"/>
              </a:defRPr>
            </a:pPr>
            <a:r>
              <a:t>SYSTEM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5184648"/>
            <a:ext cx="4983480" cy="66751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A narrow heuristic raises a warning. It does not repair the answer or guarantee completeness.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172200"/>
            <a:ext cx="10424160" cy="18288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000" b="1">
                <a:solidFill>
                  <a:srgbClr val="5A656B"/>
                </a:solidFill>
                <a:latin typeface="Aptos"/>
              </a:defRPr>
            </a:pPr>
            <a:r>
              <a:t>Demo: dialogue → JSON → schema/tool pass → coverage warning → human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32B30"/>
                </a:solidFill>
                <a:latin typeface="Aptos"/>
              </a:defRPr>
            </a:pPr>
            <a:r>
              <a:t>Reliability: safeguards and 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56B"/>
                </a:solidFill>
                <a:latin typeface="Aptos"/>
              </a:defRPr>
            </a:pPr>
            <a:r>
              <a:t>The project combines experiments with explicit limitations and review controls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353312"/>
            <a:ext cx="612648" cy="0"/>
          </a:xfrm>
          <a:prstGeom prst="line">
            <a:avLst/>
          </a:prstGeom>
          <a:ln w="317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47120" y="6492240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56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0292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9D4F43"/>
                </a:solidFill>
                <a:latin typeface="Aptos"/>
              </a:defRPr>
            </a:pPr>
            <a:r>
              <a:t>OBSERVED FAILURE MODES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5029200" cy="34564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Explicit action omitted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Tentative suggestion rewritten as a decision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Unsupported details added during sampling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Valid JSON mistaken for factual correctness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02920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F70"/>
                </a:solidFill>
                <a:latin typeface="Aptos"/>
              </a:defRPr>
            </a:pPr>
            <a:r>
              <a:t>CURRENT SAFEGUARDS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212848"/>
            <a:ext cx="5029200" cy="345643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Constrained prompts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JSON Schema and one retry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Allowlisted validation function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Narrow commitment-coverage warning</a:t>
            </a:r>
          </a:p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• Human review before acting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10424160" cy="2743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5A656B"/>
                </a:solidFill>
                <a:latin typeface="Aptos"/>
              </a:defRPr>
            </a:pPr>
            <a:r>
              <a:t>Latest offline test run: 66 tests passed. This verifies tested software behavior, not real-world accuracy.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32B30"/>
                </a:solidFill>
                <a:latin typeface="Aptos"/>
              </a:defRPr>
            </a:pPr>
            <a:r>
              <a:t>Conclusion and handover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789920" cy="32004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5A656B"/>
                </a:solidFill>
                <a:latin typeface="Aptos"/>
              </a:defRPr>
            </a:pPr>
            <a:r>
              <a:t>A practical prototype for conversation intelligence—with transparent limits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21792" y="1353312"/>
            <a:ext cx="612648" cy="0"/>
          </a:xfrm>
          <a:prstGeom prst="line">
            <a:avLst/>
          </a:prstGeom>
          <a:ln w="31750">
            <a:solidFill>
              <a:srgbClr val="196F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1247120" y="6492240"/>
            <a:ext cx="365760" cy="16459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 algn="r">
              <a:spcAft>
                <a:spcPts val="700"/>
              </a:spcAft>
              <a:defRPr sz="900" b="0">
                <a:solidFill>
                  <a:srgbClr val="5A656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74519"/>
            <a:ext cx="324612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196F70"/>
                </a:solidFill>
                <a:latin typeface="Aptos"/>
              </a:defRPr>
            </a:pPr>
            <a:r>
              <a:t>1  SUMMARIZE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58568"/>
            <a:ext cx="3246120" cy="19019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Convert multi-turn chat into a concise natural-language digest.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324612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AE7B31"/>
                </a:solidFill>
                <a:latin typeface="Aptos"/>
              </a:defRPr>
            </a:pPr>
            <a:r>
              <a:t>2  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58568"/>
            <a:ext cx="3246120" cy="19019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Separate key points, decisions and explicitly agreed action items.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874519"/>
            <a:ext cx="3246120" cy="292608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600" b="1">
                <a:solidFill>
                  <a:srgbClr val="9D4F43"/>
                </a:solidFill>
                <a:latin typeface="Aptos"/>
              </a:defRPr>
            </a:pPr>
            <a:r>
              <a:t>3 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258568"/>
            <a:ext cx="3246120" cy="1901952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Validate structure, flag selected omissions and keep a human in the loop.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232B30"/>
                </a:solidFill>
                <a:latin typeface="Aptos"/>
              </a:defRPr>
            </a:pPr>
            <a:r>
              <a:t>Next steps: broaden human evaluation, use a fresh untouched test set, improve action-item coverage, and verify data licensing and provenance.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 lIns="36576" tIns="27432" rIns="36576" bIns="27432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196F70"/>
                </a:solidFill>
                <a:latin typeface="Aptos"/>
              </a:defRPr>
            </a:pPr>
            <a:r>
              <a:t>Thank you. We are happy to take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2026-10-31T10:14:42Z</dcterms:modified>
  <cp:category/>
</cp:coreProperties>
</file>