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SAMSum Conversation Summarization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Assignment 1 | Applied Generative AI | Group 19</a:t>
            </a:r>
            <a:br/>
            <a:br/>
            <a:r>
              <a:rPr/>
              <a:t>CHAUDHARI GANESH GOVIND; RAMNIWASH KUMAR; SONAL GUPTA; FIRTHOUSE BANU M 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The problem | 0:40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Decisions and commitments are spread across conversation turns.</a:t>
            </a:r>
          </a:p>
          <a:p>
            <a:pPr lvl="0"/>
            <a:r>
              <a:rPr/>
              <a:t>Goal: summarize the main events and extract explicitly agreed actions.</a:t>
            </a:r>
          </a:p>
          <a:p>
            <a:pPr lvl="0"/>
            <a:r>
              <a:rPr/>
              <a:t>Output is an assistive draft; a person must verify claims against the source.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Dataset and preparation | 0:50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SAMSum dialogues with human-written summaries; fields: </a:t>
            </a:r>
            <a:r>
              <a:rPr>
                <a:latin typeface="Courier"/>
              </a:rPr>
              <a:t>id</a:t>
            </a:r>
            <a:r>
              <a:rPr/>
              <a:t>, </a:t>
            </a:r>
            <a:r>
              <a:rPr>
                <a:latin typeface="Courier"/>
              </a:rPr>
              <a:t>dialogue</a:t>
            </a:r>
            <a:r>
              <a:rPr/>
              <a:t>, </a:t>
            </a:r>
            <a:r>
              <a:rPr>
                <a:latin typeface="Courier"/>
              </a:rPr>
              <a:t>summary</a:t>
            </a:r>
            <a:r>
              <a:rPr/>
              <a:t>.</a:t>
            </a:r>
          </a:p>
          <a:p>
            <a:pPr lvl="0"/>
            <a:r>
              <a:rPr/>
              <a:t>Processed: train 14,731; validation 818; test 819.</a:t>
            </a:r>
          </a:p>
          <a:p>
            <a:pPr lvl="0"/>
            <a:r>
              <a:rPr/>
              <a:t>One blank-dialogue training row excluded and logged; no text normalization or truncation.</a:t>
            </a:r>
          </a:p>
          <a:p>
            <a:pPr lvl="0"/>
            <a:r>
              <a:rPr/>
              <a:t>Reported source: Nilesh Malode, Kaggle, version 1 (page last updated 2023-06-23).</a:t>
            </a:r>
          </a:p>
          <a:p>
            <a:pPr lvl="0"/>
            <a:r>
              <a:rPr/>
              <a:t>Kaggle license: Unknown; dataset is not redistributed.</a:t>
            </a:r>
            <a:r>
              <a:rPr b="1"/>
              <a:t/>
            </a:r>
            <a:r>
              <a:rPr/>
              <a:t/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Generative-model families | 0:55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Standard conceptual comparison: variational autoencoders (VAE), GANs, autoregressive Transformers.</a:t>
            </a:r>
          </a:p>
          <a:p>
            <a:pPr lvl="0"/>
            <a:r>
              <a:rPr/>
              <a:t>Encoder-decoder Transformers provide an additional sequence-to-sequence comparison.</a:t>
            </a:r>
          </a:p>
          <a:p>
            <a:pPr lvl="0"/>
            <a:r>
              <a:rPr/>
              <a:t>Empirical models: Qwen2.5-1.5B-Instruct, FLAN-T5-base, DistilBART-CNN.</a:t>
            </a:r>
          </a:p>
          <a:p>
            <a:pPr lvl="0"/>
            <a:r>
              <a:rPr/>
              <a:t>Empirical systems represent causal and encoder-decoder architectures, not three distinct families.</a:t>
            </a:r>
          </a:p>
          <a:p>
            <a:pPr lvl="0"/>
            <a:r>
              <a:rPr/>
              <a:t>Specific family coverage in CS1 lecture materials has not been independently confirmed.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How generation works | 0:55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Dialogue + prompt -&gt; tokenizer IDs -&gt; token and position representations.</a:t>
            </a:r>
          </a:p>
          <a:p>
            <a:pPr lvl="0"/>
            <a:r>
              <a:rPr/>
              <a:t>Causal self-attention -&gt; next-token scores over the vocabulary.</a:t>
            </a:r>
          </a:p>
          <a:p>
            <a:pPr lvl="0"/>
            <a:r>
              <a:rPr/>
              <a:t>Decoder selects a token; append it and repeat until generation stops.</a:t>
            </a:r>
          </a:p>
          <a:p>
            <a:pPr lvl="0"/>
            <a:r>
              <a:rPr/>
              <a:t>Greedy, temperature, top-p and top-k affect token selection.</a:t>
            </a:r>
          </a:p>
          <a:p>
            <a:pPr lvl="0"/>
            <a:r>
              <a:rPr/>
              <a:t>Fluent output is not proof of factual accuracy.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Prompt and decoding experiments | 1:15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Four prompts: zero-shot, few-shot, role/context, constraint-based.</a:t>
            </a:r>
          </a:p>
          <a:p>
            <a:pPr lvl="0"/>
            <a:r>
              <a:rPr/>
              <a:t>Few-shot scored highest in the small, manually rated three-example comparison.</a:t>
            </a:r>
          </a:p>
          <a:p>
            <a:pPr lvl="0"/>
            <a:r>
              <a:rPr/>
              <a:t>Decoding: greedy and three sampling configurations (temperature/top-p or top-k).</a:t>
            </a:r>
          </a:p>
          <a:p>
            <a:pPr lvl="0"/>
            <a:r>
              <a:rPr/>
              <a:t>Sampling increased diversity and sometimes introduced unsupported details.</a:t>
            </a:r>
          </a:p>
          <a:p>
            <a:pPr lvl="0"/>
            <a:r>
              <a:rPr/>
              <a:t>Findings are exploratory; n=3 is not a general performance estimate.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Model comparison | 1:05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Qwen2.5-1.5B-Instruct: ROUGE-1 0.221; ROUGE-2 0.072; ROUGE-L 0.159.</a:t>
            </a:r>
          </a:p>
          <a:p>
            <a:pPr lvl="0"/>
            <a:r>
              <a:rPr/>
              <a:t>FLAN-T5-base: ROUGE-1 0.514; ROUGE-2 0.248; ROUGE-L 0.429.</a:t>
            </a:r>
          </a:p>
          <a:p>
            <a:pPr lvl="0"/>
            <a:r>
              <a:rPr/>
              <a:t>DistilBART-CNN-12-6: ROUGE-1 0.265; ROUGE-2 0.098; ROUGE-L 0.200.</a:t>
            </a:r>
          </a:p>
          <a:p>
            <a:pPr lvl="0"/>
            <a:r>
              <a:rPr/>
              <a:t>50 test-split dialogues; greedy decoding; input formats differed.</a:t>
            </a:r>
          </a:p>
          <a:p>
            <a:pPr lvl="0"/>
            <a:r>
              <a:rPr/>
              <a:t>Test subset has already informed model comparison/selection: not an untouched holdout.</a:t>
            </a:r>
          </a:p>
          <a:p>
            <a:pPr lvl="0"/>
            <a:r>
              <a:rPr/>
              <a:t>ROUGE measures reference overlap, not factuality or action-item correctness.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Structured output and tool | 1:00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JSON: summary, key points, decisions, action items (owner/task/optional due).</a:t>
            </a:r>
          </a:p>
          <a:p>
            <a:pPr lvl="0"/>
            <a:r>
              <a:rPr/>
              <a:t>Parse and validate; retry invalid output once; flag fallback for review.</a:t>
            </a:r>
          </a:p>
          <a:p>
            <a:pPr lvl="0"/>
            <a:r>
              <a:rPr/>
              <a:t>Allowlisted application-level </a:t>
            </a:r>
            <a:r>
              <a:rPr>
                <a:latin typeface="Courier"/>
              </a:rPr>
              <a:t>validate_summary_output</a:t>
            </a:r>
            <a:r>
              <a:rPr/>
              <a:t> function.</a:t>
            </a:r>
          </a:p>
          <a:p>
            <a:pPr lvl="0"/>
            <a:r>
              <a:rPr/>
              <a:t>Schema validation checks structure, not truth.</a:t>
            </a:r>
          </a:p>
          <a:p>
            <a:pPr lvl="0"/>
            <a:r>
              <a:rPr/>
              <a:t>A narrow first-person-commitment heuristic raises some omission warnings.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Failure analysis and safeguards | 1:00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model omitted Amanda’s explicit promise to bring cookies the next day.</a:t>
            </a:r>
          </a:p>
          <a:p>
            <a:pPr lvl="0"/>
            <a:r>
              <a:rPr/>
              <a:t>The new heuristic flags this example but does not repair it or guarantee completeness.</a:t>
            </a:r>
          </a:p>
          <a:p>
            <a:pPr lvl="0"/>
            <a:r>
              <a:rPr/>
              <a:t>Other runs converted tentative suggestions into decisions or added unsupported details.</a:t>
            </a:r>
          </a:p>
          <a:p>
            <a:pPr lvl="0"/>
            <a:r>
              <a:rPr/>
              <a:t>Safeguards: prompt constraints, schema checks, explicit warnings, human review.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Takeaways and remaining actions | 0:45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End-to-end workflow and experiments run; 39 automated tests pass.</a:t>
            </a:r>
          </a:p>
          <a:p>
            <a:pPr lvl="0"/>
            <a:r>
              <a:rPr/>
              <a:t>Report is 14 pages total (11-page body); limitations are disclosed.</a:t>
            </a:r>
          </a:p>
          <a:p>
            <a:pPr lvl="0"/>
            <a:r>
              <a:rPr/>
              <a:t>Kaggle license: Unknown; dataset is not redistributed.</a:t>
            </a:r>
          </a:p>
          <a:p>
            <a:pPr lvl="0"/>
            <a:r>
              <a:rPr/>
              <a:t>Collect each member's short contribution confirmation.</a:t>
            </a:r>
          </a:p>
          <a:p>
            <a:pPr lvl="0"/>
            <a:r>
              <a:rPr/>
              <a:t>Rehearse with the one-minute demo; target 9:25 total.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SAMSum Conversation Summarization</dc:title>
  <dc:creator>CHAUDHARI GANESH GOVIND; RAMNIWASH KUMAR; SONAL GUPTA; FIRTHOUSE BANU M G</dc:creator>
  <cp:keywords/>
  <dcterms:created xsi:type="dcterms:W3CDTF">2026-10-27T19:44:25Z</dcterms:created>
  <dcterms:modified xsi:type="dcterms:W3CDTF">2026-10-27T19:44:25Z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Assignment 1 | Applied Generative AI | Group 19</vt:lpwstr>
  </property>
</Properties>
</file>